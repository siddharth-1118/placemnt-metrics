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45391" y="0"/>
            <a:ext cx="146304" cy="68580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6304" y="292608"/>
            <a:ext cx="11896344" cy="15240"/>
          </a:xfrm>
          <a:prstGeom prst="rect">
            <a:avLst/>
          </a:prstGeom>
          <a:solidFill>
            <a:srgbClr val="244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304" y="6510528"/>
            <a:ext cx="11896344" cy="15240"/>
          </a:xfrm>
          <a:prstGeom prst="rect">
            <a:avLst/>
          </a:prstGeom>
          <a:solidFill>
            <a:srgbClr val="244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77240"/>
            <a:ext cx="103601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2A900"/>
                </a:solidFill>
                <a:latin typeface="Calibri"/>
              </a:rPr>
              <a:t>SRM INSTITUTE OF SCIENCE AND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34440"/>
            <a:ext cx="103601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C9D4E8"/>
                </a:solidFill>
                <a:latin typeface="Calibri"/>
              </a:rPr>
              <a:t>Faculty of Engineering and Technology   |   School of Computing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58968" y="1847088"/>
            <a:ext cx="1280160" cy="4114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072591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Metrics for Evaluation of Students</a:t>
            </a:r>
          </a:p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for Placement Ranking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84248" y="4160520"/>
            <a:ext cx="2743200" cy="457200"/>
          </a:xfrm>
          <a:prstGeom prst="roundRect">
            <a:avLst>
              <a:gd name="adj" fmla="val 8000"/>
            </a:avLst>
          </a:prstGeom>
          <a:solidFill>
            <a:srgbClr val="24457D"/>
          </a:solidFill>
          <a:ln w="1524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2A900"/>
                </a:solidFill>
                <a:latin typeface="Calibri"/>
              </a:rPr>
              <a:t>2022 – 2026 Batch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38928" y="4160520"/>
            <a:ext cx="2743200" cy="457200"/>
          </a:xfrm>
          <a:prstGeom prst="roundRect">
            <a:avLst>
              <a:gd name="adj" fmla="val 8000"/>
            </a:avLst>
          </a:prstGeom>
          <a:solidFill>
            <a:srgbClr val="24457D"/>
          </a:solidFill>
          <a:ln w="1524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2A900"/>
                </a:solidFill>
                <a:latin typeface="Calibri"/>
              </a:rPr>
              <a:t>2023 – 2027 Batch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93608" y="416052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24457D"/>
          </a:solidFill>
          <a:ln w="1524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2A900"/>
                </a:solidFill>
                <a:latin typeface="Calibri"/>
              </a:rPr>
              <a:t>AO1 Batch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53128" y="5029200"/>
            <a:ext cx="3291840" cy="530352"/>
          </a:xfrm>
          <a:prstGeom prst="roundRect">
            <a:avLst>
              <a:gd name="adj" fmla="val 8000"/>
            </a:avLst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91E42"/>
                </a:solidFill>
                <a:latin typeface="Calibri"/>
              </a:rPr>
              <a:t>Total Score : 100 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3601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FB0CE"/>
                </a:solidFill>
                <a:latin typeface="Calibri"/>
              </a:rPr>
              <a:t>Placement Cell  •  School of Computing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869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2B5B"/>
                </a:solidFill>
                <a:latin typeface="Calibri"/>
              </a:rPr>
              <a:t>Evaluation Framework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B6A83"/>
                </a:solidFill>
                <a:latin typeface="Calibri"/>
              </a:rPr>
              <a:t>13 evaluation components  •  consolidated for final placement ranking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24128"/>
            <a:ext cx="1554480" cy="457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46920" y="219456"/>
            <a:ext cx="2103120" cy="475488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100 MARKS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247120" cy="17780"/>
          </a:xfrm>
          <a:prstGeom prst="rect">
            <a:avLst/>
          </a:prstGeom>
          <a:solidFill>
            <a:srgbClr val="D3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A83"/>
                </a:solidFill>
                <a:latin typeface="Calibri"/>
              </a:rPr>
              <a:t>SRM IST  •  School of Computing  •  Placement Ranking Metrics (AO1 Batch)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1325880"/>
          <a:ext cx="10607040" cy="4890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1520"/>
                <a:gridCol w="7863840"/>
                <a:gridCol w="201168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Marks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</a:tr>
              <a:tr h="32186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10th Percentage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32186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12th Percentage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32186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CGPA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32186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GitHub Profile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32186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Coding Practice Platform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32186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Internship Experience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32186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Skillset &amp; Global Certifications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32186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Projects Done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32186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Full Stack Developer Experience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32186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Coding Competitions &amp; Hackathons Won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32186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Inhouse Projects Done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32186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Membership of Professional Bodies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32186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SHL Assessment / Talent Discovery / NCET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32186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</a:p>
                  </a:txBody>
                  <a:tcPr anchor="ctr" marL="82296" marR="82296" marT="13716" marB="13716">
                    <a:solidFill>
                      <a:srgbClr val="FDF3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82296" marR="82296" marT="13716" marB="13716">
                    <a:solidFill>
                      <a:srgbClr val="FDF3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 marL="82296" marR="82296" marT="13716" marB="13716">
                    <a:solidFill>
                      <a:srgbClr val="FDF3D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869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2B5B"/>
                </a:solidFill>
                <a:latin typeface="Calibri"/>
              </a:rPr>
              <a:t>Academic Credentials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B6A83"/>
                </a:solidFill>
                <a:latin typeface="Calibri"/>
              </a:rPr>
              <a:t>10th Percentage  •  12th Percentage  •  CGPA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24128"/>
            <a:ext cx="1554480" cy="457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46920" y="219456"/>
            <a:ext cx="2103120" cy="475488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2.5 + 2.5 + 5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786384"/>
            <a:ext cx="4937760" cy="365760"/>
          </a:xfrm>
          <a:prstGeom prst="roundRect">
            <a:avLst>
              <a:gd name="adj" fmla="val 8000"/>
            </a:avLst>
          </a:prstGeom>
          <a:solidFill>
            <a:srgbClr val="FDF3DB"/>
          </a:solidFill>
          <a:ln w="127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0" bIns="0"/>
          <a:lstStyle/>
          <a:p>
            <a:pPr algn="ctr"/>
            <a:r>
              <a:rPr sz="1150" b="1">
                <a:solidFill>
                  <a:srgbClr val="091E42"/>
                </a:solidFill>
                <a:latin typeface="Calibri"/>
              </a:rPr>
              <a:t>Evaluation:  Sravani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46520"/>
            <a:ext cx="11247120" cy="17780"/>
          </a:xfrm>
          <a:prstGeom prst="rect">
            <a:avLst/>
          </a:prstGeom>
          <a:solidFill>
            <a:srgbClr val="D3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A83"/>
                </a:solidFill>
                <a:latin typeface="Calibri"/>
              </a:rPr>
              <a:t>SRM IST  •  School of Computing  •  Placement Ranking Metrics (AO1 Batch)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63040"/>
            <a:ext cx="3566160" cy="448056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463040"/>
            <a:ext cx="3566160" cy="457200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1517904"/>
            <a:ext cx="237743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10th Percentage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1517904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2A900"/>
                </a:solidFill>
                <a:latin typeface="Calibri"/>
              </a:rPr>
              <a:t>2.5 Marks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04088" y="2148840"/>
          <a:ext cx="3163824" cy="23957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7984"/>
                <a:gridCol w="1005840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Percentage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Marks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96 – 100 %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91 – 95 %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86 – 90 %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75 – 85 %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Below 75 %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4315968" y="1463040"/>
            <a:ext cx="3566160" cy="448056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15968" y="1463040"/>
            <a:ext cx="3566160" cy="457200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2272" y="1517904"/>
            <a:ext cx="237743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12th Percentage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7" y="1517904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2A900"/>
                </a:solidFill>
                <a:latin typeface="Calibri"/>
              </a:rPr>
              <a:t>2.5 Marks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17136" y="2148840"/>
          <a:ext cx="3163824" cy="23957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7984"/>
                <a:gridCol w="1005840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Percentage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Marks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96 – 100 %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91 – 95 %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86 – 90 %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75 – 85 %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Below 75 %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8129016" y="1463040"/>
            <a:ext cx="3566160" cy="448056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29016" y="1463040"/>
            <a:ext cx="3566160" cy="457200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1517904"/>
            <a:ext cx="237743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CGPA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06456" y="1517904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2A900"/>
                </a:solidFill>
                <a:latin typeface="Calibri"/>
              </a:rPr>
              <a:t>5 Marks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330184" y="2148840"/>
          <a:ext cx="3163824" cy="23957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7984"/>
                <a:gridCol w="1005840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CGPA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Marks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&gt; 9.5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9.1 – 9.5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8.6 – 9.0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7.5 – 8.5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Below 7.5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02920" y="6053328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5B6A83"/>
                </a:solidFill>
                <a:latin typeface="Calibri"/>
              </a:rPr>
              <a:t>Verified against board mark sheets and university grade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869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2B5B"/>
                </a:solidFill>
                <a:latin typeface="Calibri"/>
              </a:rPr>
              <a:t>GitHub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B6A83"/>
                </a:solidFill>
                <a:latin typeface="Calibri"/>
              </a:rPr>
              <a:t>Contributions (5)  •  Frequency (2)  •  Community (3)  •  Collaborations (5)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24128"/>
            <a:ext cx="1554480" cy="457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46920" y="219456"/>
            <a:ext cx="2103120" cy="475488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15 MARKS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786384"/>
            <a:ext cx="4937760" cy="365760"/>
          </a:xfrm>
          <a:prstGeom prst="roundRect">
            <a:avLst>
              <a:gd name="adj" fmla="val 8000"/>
            </a:avLst>
          </a:prstGeom>
          <a:solidFill>
            <a:srgbClr val="FDF3DB"/>
          </a:solidFill>
          <a:ln w="127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0" bIns="0"/>
          <a:lstStyle/>
          <a:p>
            <a:pPr algn="ctr"/>
            <a:r>
              <a:rPr sz="1150" b="1">
                <a:solidFill>
                  <a:srgbClr val="091E42"/>
                </a:solidFill>
                <a:latin typeface="Calibri"/>
              </a:rPr>
              <a:t>Evaluation:  Harshitha &amp; Harshini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46520"/>
            <a:ext cx="11247120" cy="17780"/>
          </a:xfrm>
          <a:prstGeom prst="rect">
            <a:avLst/>
          </a:prstGeom>
          <a:solidFill>
            <a:srgbClr val="D3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A83"/>
                </a:solidFill>
                <a:latin typeface="Calibri"/>
              </a:rPr>
              <a:t>SRM IST  •  School of Computing  •  Placement Ranking Metrics (AO1 Batch)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5577840" cy="2395728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371600"/>
            <a:ext cx="5577840" cy="457200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1426464"/>
            <a:ext cx="4389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1.  Contributions / Repositories — Last 1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426464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2A900"/>
                </a:solidFill>
                <a:latin typeface="Calibri"/>
              </a:rPr>
              <a:t>5 Marks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04088" y="1993392"/>
          <a:ext cx="5157216" cy="17647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/>
                <a:gridCol w="1591056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No. of Contributions / Repositories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Marks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02B3D"/>
                          </a:solidFill>
                          <a:latin typeface="Calibri"/>
                        </a:rPr>
                        <a:t>More than 20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0F2B5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02B3D"/>
                          </a:solidFill>
                          <a:latin typeface="Calibri"/>
                        </a:rPr>
                        <a:t>16 – 20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0F2B5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02B3D"/>
                          </a:solidFill>
                          <a:latin typeface="Calibri"/>
                        </a:rPr>
                        <a:t>11 – 15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0F2B5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02B3D"/>
                          </a:solidFill>
                          <a:latin typeface="Calibri"/>
                        </a:rPr>
                        <a:t>6 – 10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0F2B5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02B3D"/>
                          </a:solidFill>
                          <a:latin typeface="Calibri"/>
                        </a:rPr>
                        <a:t>1 – 5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0F2B5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02B3D"/>
                          </a:solidFill>
                          <a:latin typeface="Calibri"/>
                        </a:rPr>
                        <a:t>No contribution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0F2B5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263640" y="1371600"/>
            <a:ext cx="5486400" cy="2395728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371600"/>
            <a:ext cx="5486400" cy="457200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1426464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2.  Frequency of Contributions — Monthly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1319" y="1426464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2A900"/>
                </a:solidFill>
                <a:latin typeface="Calibri"/>
              </a:rPr>
              <a:t>2 Marks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464808" y="1993392"/>
          <a:ext cx="5120640" cy="12070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3320"/>
                <a:gridCol w="141732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Frequency (Monthly Basis)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Marks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2 contributions / month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0F2B5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1 contribution / month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0F2B5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No contribution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0F2B5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464808" y="345643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B6A83"/>
                </a:solidFill>
                <a:latin typeface="Calibri"/>
              </a:rPr>
              <a:t>Consistency of commits across the year is reviewed.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950208"/>
            <a:ext cx="5577840" cy="22860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3950208"/>
            <a:ext cx="5577840" cy="457200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" y="4005072"/>
            <a:ext cx="4389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3.  Projects Done for Community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4005072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2A900"/>
                </a:solidFill>
                <a:latin typeface="Calibri"/>
              </a:rPr>
              <a:t>3 Marks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04088" y="4572000"/>
          <a:ext cx="5157216" cy="6583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/>
                <a:gridCol w="1591056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Criterion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Marks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Each community project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0F2B5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04088" y="5440680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5B6A83"/>
                </a:solidFill>
                <a:latin typeface="Calibri"/>
              </a:rPr>
              <a:t>Maximum of 2 projects considered  •  Component capped at 3 marks</a:t>
            </a:r>
          </a:p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5B6A83"/>
                </a:solidFill>
                <a:latin typeface="Calibri"/>
              </a:rPr>
              <a:t>Projects must show a public repository and community use.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950208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63640" y="3950208"/>
            <a:ext cx="5486400" cy="457200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9944" y="4005072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4.  No. of Collaborations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61319" y="4005072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2A900"/>
                </a:solidFill>
                <a:latin typeface="Calibri"/>
              </a:rPr>
              <a:t>5 Marks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464808" y="4572000"/>
          <a:ext cx="5120640" cy="6583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3320"/>
                <a:gridCol w="141732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Criterion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Marks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Each collaboration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0F2B5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6464808" y="544068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5B6A83"/>
                </a:solidFill>
                <a:latin typeface="Calibri"/>
              </a:rPr>
              <a:t>Maximum of 3 collaborations considered  •  Component capped at 5 marks</a:t>
            </a:r>
          </a:p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5B6A83"/>
                </a:solidFill>
                <a:latin typeface="Calibri"/>
              </a:rPr>
              <a:t>Verified via repository collaborator / pull-request history.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869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2B5B"/>
                </a:solidFill>
                <a:latin typeface="Calibri"/>
              </a:rPr>
              <a:t>Coding Practice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B6A83"/>
                </a:solidFill>
                <a:latin typeface="Calibri"/>
              </a:rPr>
              <a:t>LeetCode • CodeChef • HackerRank • HackerEarth • etc.  (Split: 5 + 5)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24128"/>
            <a:ext cx="1554480" cy="457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46920" y="219456"/>
            <a:ext cx="2103120" cy="475488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10 MARKS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786384"/>
            <a:ext cx="4937760" cy="365760"/>
          </a:xfrm>
          <a:prstGeom prst="roundRect">
            <a:avLst>
              <a:gd name="adj" fmla="val 8000"/>
            </a:avLst>
          </a:prstGeom>
          <a:solidFill>
            <a:srgbClr val="FDF3DB"/>
          </a:solidFill>
          <a:ln w="127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0" bIns="0"/>
          <a:lstStyle/>
          <a:p>
            <a:pPr algn="ctr"/>
            <a:r>
              <a:rPr sz="1150" b="1">
                <a:solidFill>
                  <a:srgbClr val="091E42"/>
                </a:solidFill>
                <a:latin typeface="Calibri"/>
              </a:rPr>
              <a:t>Evaluation:  Sarvesh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46520"/>
            <a:ext cx="11247120" cy="17780"/>
          </a:xfrm>
          <a:prstGeom prst="rect">
            <a:avLst/>
          </a:prstGeom>
          <a:solidFill>
            <a:srgbClr val="D3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A83"/>
                </a:solidFill>
                <a:latin typeface="Calibri"/>
              </a:rPr>
              <a:t>SRM IST  •  School of Computing  •  Placement Ranking Metrics (AO1 Batch)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5577840" cy="416052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371600"/>
            <a:ext cx="5577840" cy="457200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1426464"/>
            <a:ext cx="4389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A.  Badges / Recognitions Earned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426464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2A900"/>
                </a:solidFill>
                <a:latin typeface="Calibri"/>
              </a:rPr>
              <a:t>5 Marks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04088" y="1993392"/>
          <a:ext cx="5157216" cy="3236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/>
                <a:gridCol w="1591056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No. of Badges / Recognitions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Marks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202B3D"/>
                          </a:solidFill>
                          <a:latin typeface="Calibri"/>
                        </a:rPr>
                        <a:t>25 and above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0F2B5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202B3D"/>
                          </a:solidFill>
                          <a:latin typeface="Calibri"/>
                        </a:rPr>
                        <a:t>20 badges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0F2B5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202B3D"/>
                          </a:solidFill>
                          <a:latin typeface="Calibri"/>
                        </a:rPr>
                        <a:t>15 badges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0F2B5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202B3D"/>
                          </a:solidFill>
                          <a:latin typeface="Calibri"/>
                        </a:rPr>
                        <a:t>10 badges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0F2B5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202B3D"/>
                          </a:solidFill>
                          <a:latin typeface="Calibri"/>
                        </a:rPr>
                        <a:t>5 badges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0F2B5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202B3D"/>
                          </a:solidFill>
                          <a:latin typeface="Calibri"/>
                        </a:rPr>
                        <a:t>Less than 5 / none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0F2B5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263640" y="1371600"/>
            <a:ext cx="5486400" cy="416052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371600"/>
            <a:ext cx="5486400" cy="457200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1426464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B.  Medium &amp; Difficult Questions Solved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1319" y="1426464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2A900"/>
                </a:solidFill>
                <a:latin typeface="Calibri"/>
              </a:rPr>
              <a:t>5 Marks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464808" y="1993392"/>
          <a:ext cx="5120640" cy="3236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3320"/>
                <a:gridCol w="1417320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Questions Solved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Marks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202B3D"/>
                          </a:solidFill>
                          <a:latin typeface="Calibri"/>
                        </a:rPr>
                        <a:t>More than 200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0F2B5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202B3D"/>
                          </a:solidFill>
                          <a:latin typeface="Calibri"/>
                        </a:rPr>
                        <a:t>150 – 200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0F2B5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202B3D"/>
                          </a:solidFill>
                          <a:latin typeface="Calibri"/>
                        </a:rPr>
                        <a:t>100 – 150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0F2B5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202B3D"/>
                          </a:solidFill>
                          <a:latin typeface="Calibri"/>
                        </a:rPr>
                        <a:t>50 – 100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0F2B5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202B3D"/>
                          </a:solidFill>
                          <a:latin typeface="Calibri"/>
                        </a:rPr>
                        <a:t>25 – 50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0F2B5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202B3D"/>
                          </a:solidFill>
                          <a:latin typeface="Calibri"/>
                        </a:rPr>
                        <a:t>Less than 25 / none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0F2B5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502920" y="5760720"/>
            <a:ext cx="11247120" cy="475488"/>
          </a:xfrm>
          <a:prstGeom prst="roundRect">
            <a:avLst>
              <a:gd name="adj" fmla="val 8000"/>
            </a:avLst>
          </a:prstGeom>
          <a:solidFill>
            <a:srgbClr val="E6F4EC"/>
          </a:solidFill>
          <a:ln w="15240">
            <a:solidFill>
              <a:srgbClr val="1F7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7A4D"/>
                </a:solidFill>
                <a:latin typeface="Calibri"/>
              </a:rPr>
              <a:t>✔  All platform scores must be verified by Shubhang Dharshan before marks are finalized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869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2B5B"/>
                </a:solidFill>
                <a:latin typeface="Calibri"/>
              </a:rPr>
              <a:t>Internship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B6A83"/>
                </a:solidFill>
                <a:latin typeface="Calibri"/>
              </a:rPr>
              <a:t>Minimum duration for internship: 3 months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24128"/>
            <a:ext cx="1554480" cy="457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46920" y="219456"/>
            <a:ext cx="2103120" cy="475488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10 MARKS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786384"/>
            <a:ext cx="4937760" cy="365760"/>
          </a:xfrm>
          <a:prstGeom prst="roundRect">
            <a:avLst>
              <a:gd name="adj" fmla="val 8000"/>
            </a:avLst>
          </a:prstGeom>
          <a:solidFill>
            <a:srgbClr val="FDF3DB"/>
          </a:solidFill>
          <a:ln w="127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0" bIns="0"/>
          <a:lstStyle/>
          <a:p>
            <a:pPr algn="ctr"/>
            <a:r>
              <a:rPr sz="1150" b="1">
                <a:solidFill>
                  <a:srgbClr val="091E42"/>
                </a:solidFill>
                <a:latin typeface="Calibri"/>
              </a:rPr>
              <a:t>Evaluation:  Aarya Jain &amp; Arya G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46520"/>
            <a:ext cx="11247120" cy="17780"/>
          </a:xfrm>
          <a:prstGeom prst="rect">
            <a:avLst/>
          </a:prstGeom>
          <a:solidFill>
            <a:srgbClr val="D3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A83"/>
                </a:solidFill>
                <a:latin typeface="Calibri"/>
              </a:rPr>
              <a:t>SRM IST  •  School of Computing  •  Placement Ranking Metrics (AO1 Batch)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1371600"/>
          <a:ext cx="10607040" cy="3959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29600"/>
                <a:gridCol w="2377440"/>
              </a:tblGrid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Internship Category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Marks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</a:tr>
              <a:tr h="4434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300" b="0">
                          <a:solidFill>
                            <a:srgbClr val="202B3D"/>
                          </a:solidFill>
                          <a:latin typeface="Calibri"/>
                        </a:rPr>
                        <a:t>DRDO / ISRO / IIT / NIT internships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300" b="1">
                          <a:solidFill>
                            <a:srgbClr val="0F2B5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4434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300" b="0">
                          <a:solidFill>
                            <a:srgbClr val="202B3D"/>
                          </a:solidFill>
                          <a:latin typeface="Calibri"/>
                        </a:rPr>
                        <a:t>Research internships (MITACS, GAIP, etc.)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300" b="1">
                          <a:solidFill>
                            <a:srgbClr val="0F2B5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4434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300" b="0">
                          <a:solidFill>
                            <a:srgbClr val="202B3D"/>
                          </a:solidFill>
                          <a:latin typeface="Calibri"/>
                        </a:rPr>
                        <a:t>Placed in internship through SRM placement process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300" b="1">
                          <a:solidFill>
                            <a:srgbClr val="0F2B5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4434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300" b="0">
                          <a:solidFill>
                            <a:srgbClr val="202B3D"/>
                          </a:solidFill>
                          <a:latin typeface="Calibri"/>
                        </a:rPr>
                        <a:t>Fortune 500 companies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300" b="1">
                          <a:solidFill>
                            <a:srgbClr val="0F2B5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4434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300" b="0">
                          <a:solidFill>
                            <a:srgbClr val="202B3D"/>
                          </a:solidFill>
                          <a:latin typeface="Calibri"/>
                        </a:rPr>
                        <a:t>Small companies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300" b="1">
                          <a:solidFill>
                            <a:srgbClr val="0F2B5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4434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300" b="0">
                          <a:solidFill>
                            <a:srgbClr val="202B3D"/>
                          </a:solidFill>
                          <a:latin typeface="Calibri"/>
                        </a:rPr>
                        <a:t>Internship with duration less than 3 months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300" b="1">
                          <a:solidFill>
                            <a:srgbClr val="0F2B5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4434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300" b="0">
                          <a:solidFill>
                            <a:srgbClr val="202B3D"/>
                          </a:solidFill>
                          <a:latin typeface="Calibri"/>
                        </a:rPr>
                        <a:t>Paid internship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300" b="1">
                          <a:solidFill>
                            <a:srgbClr val="0F2B5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4434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300" b="0">
                          <a:solidFill>
                            <a:srgbClr val="202B3D"/>
                          </a:solidFill>
                          <a:latin typeface="Calibri"/>
                        </a:rPr>
                        <a:t>No internship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300" b="1">
                          <a:solidFill>
                            <a:srgbClr val="0F2B5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B6A83"/>
                </a:solidFill>
                <a:latin typeface="Calibri"/>
              </a:rPr>
              <a:t>Offer letters / completion certificates are required as proof of internship.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869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2B5B"/>
                </a:solidFill>
                <a:latin typeface="Calibri"/>
              </a:rPr>
              <a:t>Skillset &amp; Global Certifications 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B6A83"/>
                </a:solidFill>
                <a:latin typeface="Calibri"/>
              </a:rPr>
              <a:t>Maximum of 5 courses to be considered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24128"/>
            <a:ext cx="1554480" cy="457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46920" y="219456"/>
            <a:ext cx="2103120" cy="475488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15 MARKS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786384"/>
            <a:ext cx="4937760" cy="365760"/>
          </a:xfrm>
          <a:prstGeom prst="roundRect">
            <a:avLst>
              <a:gd name="adj" fmla="val 8000"/>
            </a:avLst>
          </a:prstGeom>
          <a:solidFill>
            <a:srgbClr val="FDF3DB"/>
          </a:solidFill>
          <a:ln w="127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0" bIns="0"/>
          <a:lstStyle/>
          <a:p>
            <a:pPr algn="ctr"/>
            <a:r>
              <a:rPr sz="1150" b="1">
                <a:solidFill>
                  <a:srgbClr val="091E42"/>
                </a:solidFill>
                <a:latin typeface="Calibri"/>
              </a:rPr>
              <a:t>Evaluation:  Darshil Joshi &amp; Rachit Jha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46520"/>
            <a:ext cx="11247120" cy="17780"/>
          </a:xfrm>
          <a:prstGeom prst="rect">
            <a:avLst/>
          </a:prstGeom>
          <a:solidFill>
            <a:srgbClr val="D3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A83"/>
                </a:solidFill>
                <a:latin typeface="Calibri"/>
              </a:rPr>
              <a:t>SRM IST  •  School of Computing  •  Placement Ranking Metrics (AO1 Batch)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1417320"/>
          <a:ext cx="10607039" cy="2139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98079"/>
                <a:gridCol w="3108960"/>
              </a:tblGrid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Certification Type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Marks (per course)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350" b="0">
                          <a:solidFill>
                            <a:srgbClr val="202B3D"/>
                          </a:solidFill>
                          <a:latin typeface="Calibri"/>
                        </a:rPr>
                        <a:t>Global certifications  (IBM, Scrum, Cisco, CCNA, Red Hat, etc.)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350" b="1">
                          <a:solidFill>
                            <a:srgbClr val="0F2B5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350" b="0">
                          <a:solidFill>
                            <a:srgbClr val="202B3D"/>
                          </a:solidFill>
                          <a:latin typeface="Calibri"/>
                        </a:rPr>
                        <a:t>NPTEL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350" b="1">
                          <a:solidFill>
                            <a:srgbClr val="0F2B5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350" b="0">
                          <a:solidFill>
                            <a:srgbClr val="202B3D"/>
                          </a:solidFill>
                          <a:latin typeface="Calibri"/>
                        </a:rPr>
                        <a:t>Coursera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350" b="1">
                          <a:solidFill>
                            <a:srgbClr val="0F2B5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77240" y="3977639"/>
            <a:ext cx="10607040" cy="173736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60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02B3D"/>
                </a:solidFill>
                <a:latin typeface="Calibri"/>
              </a:rPr>
              <a:t>Evaluation guidelines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02B3D"/>
                </a:solidFill>
                <a:latin typeface="Calibri"/>
              </a:rPr>
              <a:t>•  Certificates must be valid and verifiable (certificate ID / provider link).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02B3D"/>
                </a:solidFill>
                <a:latin typeface="Calibri"/>
              </a:rPr>
              <a:t>•  A maximum of 5 courses will be counted toward the 15-mark component.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02B3D"/>
                </a:solidFill>
                <a:latin typeface="Calibri"/>
              </a:rPr>
              <a:t>•  Global certifications carry the highest weightage (5 marks each).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869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F2B5B"/>
                </a:solidFill>
                <a:latin typeface="Calibri"/>
              </a:rPr>
              <a:t>Projects Done &amp; Full Stack Developer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B6A83"/>
                </a:solidFill>
                <a:latin typeface="Calibri"/>
              </a:rPr>
              <a:t>Two independent components  •  5 marks each  •  evaluated by separate panels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24128"/>
            <a:ext cx="1554480" cy="457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46920" y="219456"/>
            <a:ext cx="2103120" cy="475488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 + 5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247120" cy="17780"/>
          </a:xfrm>
          <a:prstGeom prst="rect">
            <a:avLst/>
          </a:prstGeom>
          <a:solidFill>
            <a:srgbClr val="D3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A83"/>
                </a:solidFill>
                <a:latin typeface="Calibri"/>
              </a:rPr>
              <a:t>SRM IST  •  School of Computing  •  Placement Ranking Metrics (AO1 Batch)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5577840" cy="470916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5577840" cy="457200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1426464"/>
            <a:ext cx="4389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Projects Done  (max 3 projects)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426464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2A900"/>
                </a:solidFill>
                <a:latin typeface="Calibri"/>
              </a:rPr>
              <a:t>5 Marks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" y="1920240"/>
            <a:ext cx="5175504" cy="347472"/>
          </a:xfrm>
          <a:prstGeom prst="roundRect">
            <a:avLst>
              <a:gd name="adj" fmla="val 8000"/>
            </a:avLst>
          </a:prstGeom>
          <a:solidFill>
            <a:srgbClr val="FDF3DB"/>
          </a:solidFill>
          <a:ln w="127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>
                <a:solidFill>
                  <a:srgbClr val="091E42"/>
                </a:solidFill>
                <a:latin typeface="Calibri"/>
              </a:rPr>
              <a:t>Evaluation:  Ahmad Thalha, Abishai &amp; Kunsh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04088" y="2395728"/>
          <a:ext cx="5157216" cy="3310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/>
                <a:gridCol w="1316736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Project Type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Marks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IIT / NIT / DRDO / ISRO /</a:t>
                      </a:r>
                    </a:p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Samsung / Apollo / Renault Nissan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0F2B5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Mobile application /</a:t>
                      </a:r>
                    </a:p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Web application  (each)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0F2B5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Mini project (each)</a:t>
                      </a:r>
                    </a:p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(based on project quality)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0F2B5B"/>
                          </a:solidFill>
                          <a:latin typeface="Calibri"/>
                        </a:rPr>
                        <a:t>1 – 2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No projects done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0F2B5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263640" y="1371600"/>
            <a:ext cx="5486400" cy="470916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371600"/>
            <a:ext cx="5486400" cy="457200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1426464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Full Stack Developer 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1319" y="1426464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2A900"/>
                </a:solidFill>
                <a:latin typeface="Calibri"/>
              </a:rPr>
              <a:t>5 Marks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64808" y="1920240"/>
            <a:ext cx="5175504" cy="347472"/>
          </a:xfrm>
          <a:prstGeom prst="roundRect">
            <a:avLst>
              <a:gd name="adj" fmla="val 8000"/>
            </a:avLst>
          </a:prstGeom>
          <a:solidFill>
            <a:srgbClr val="FDF3DB"/>
          </a:solidFill>
          <a:ln w="127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>
                <a:solidFill>
                  <a:srgbClr val="091E42"/>
                </a:solidFill>
                <a:latin typeface="Calibri"/>
              </a:rPr>
              <a:t>Evaluation:  Sai, Eishit &amp; Manushree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2487168"/>
            <a:ext cx="4572000" cy="1234440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One FSD Project  →  5 Marks</a:t>
            </a:r>
          </a:p>
          <a:p>
            <a:pPr algn="ctr"/>
            <a:r>
              <a:rPr sz="1300" b="0">
                <a:solidFill>
                  <a:srgbClr val="C9D4E8"/>
                </a:solidFill>
                <a:latin typeface="Calibri"/>
              </a:rPr>
              <a:t>No FSD Project  →  0 Marks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77639"/>
            <a:ext cx="4937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02B3D"/>
                </a:solidFill>
                <a:latin typeface="Calibri"/>
              </a:rPr>
              <a:t>•  Maximum of 1 FSD project is considered</a:t>
            </a:r>
          </a:p>
          <a:p>
            <a:pPr algn="l">
              <a:lnSpc>
                <a:spcPct val="110000"/>
              </a:lnSpc>
            </a:pP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02B3D"/>
                </a:solidFill>
                <a:latin typeface="Calibri"/>
              </a:rPr>
              <a:t>•  Must demonstrate both frontend and backend with database integration</a:t>
            </a:r>
          </a:p>
          <a:p>
            <a:pPr algn="l">
              <a:lnSpc>
                <a:spcPct val="110000"/>
              </a:lnSpc>
            </a:pP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02B3D"/>
                </a:solidFill>
                <a:latin typeface="Calibri"/>
              </a:rPr>
              <a:t>•  Live deployment / repository link strengthens verification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869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2B5B"/>
                </a:solidFill>
                <a:latin typeface="Calibri"/>
              </a:rPr>
              <a:t>Coding Competitions &amp; Hackathons Won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B6A83"/>
                </a:solidFill>
                <a:latin typeface="Calibri"/>
              </a:rPr>
              <a:t>Maximum of 4 hackathons / coding competitions to be considered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24128"/>
            <a:ext cx="1554480" cy="457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46920" y="219456"/>
            <a:ext cx="2103120" cy="475488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10 MARKS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786384"/>
            <a:ext cx="4937760" cy="365760"/>
          </a:xfrm>
          <a:prstGeom prst="roundRect">
            <a:avLst>
              <a:gd name="adj" fmla="val 8000"/>
            </a:avLst>
          </a:prstGeom>
          <a:solidFill>
            <a:srgbClr val="FDF3DB"/>
          </a:solidFill>
          <a:ln w="127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0" bIns="0"/>
          <a:lstStyle/>
          <a:p>
            <a:pPr algn="ctr"/>
            <a:r>
              <a:rPr sz="1150" b="1">
                <a:solidFill>
                  <a:srgbClr val="091E42"/>
                </a:solidFill>
                <a:latin typeface="Calibri"/>
              </a:rPr>
              <a:t>Evaluation:  Vaishnavi, Darshil &amp; Sharmistha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46520"/>
            <a:ext cx="11247120" cy="17780"/>
          </a:xfrm>
          <a:prstGeom prst="rect">
            <a:avLst/>
          </a:prstGeom>
          <a:solidFill>
            <a:srgbClr val="D3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A83"/>
                </a:solidFill>
                <a:latin typeface="Calibri"/>
              </a:rPr>
              <a:t>SRM IST  •  School of Computing  •  Placement Ranking Metrics (AO1 Batch)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234440" y="1417320"/>
          <a:ext cx="923544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0"/>
                <a:gridCol w="2377440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Achievement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Marks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400" b="0">
                          <a:solidFill>
                            <a:srgbClr val="202B3D"/>
                          </a:solidFill>
                          <a:latin typeface="Calibri"/>
                        </a:rPr>
                        <a:t>First prize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400" b="1">
                          <a:solidFill>
                            <a:srgbClr val="0F2B5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400" b="0">
                          <a:solidFill>
                            <a:srgbClr val="202B3D"/>
                          </a:solidFill>
                          <a:latin typeface="Calibri"/>
                        </a:rPr>
                        <a:t>Second prize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400" b="1">
                          <a:solidFill>
                            <a:srgbClr val="0F2B5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400" b="0">
                          <a:solidFill>
                            <a:srgbClr val="202B3D"/>
                          </a:solidFill>
                          <a:latin typeface="Calibri"/>
                        </a:rPr>
                        <a:t>Third prize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400" b="1">
                          <a:solidFill>
                            <a:srgbClr val="0F2B5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400" b="0">
                          <a:solidFill>
                            <a:srgbClr val="202B3D"/>
                          </a:solidFill>
                          <a:latin typeface="Calibri"/>
                        </a:rPr>
                        <a:t>Participated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400" b="1">
                          <a:solidFill>
                            <a:srgbClr val="0F2B5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400" b="0">
                          <a:solidFill>
                            <a:srgbClr val="202B3D"/>
                          </a:solidFill>
                          <a:latin typeface="Calibri"/>
                        </a:rPr>
                        <a:t>No competitions participated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400" b="1">
                          <a:solidFill>
                            <a:srgbClr val="0F2B5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234440" y="5806440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B6A83"/>
                </a:solidFill>
                <a:latin typeface="Calibri"/>
              </a:rPr>
              <a:t>Winning / participation certificates must be produced for each entry.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869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F2B5B"/>
                </a:solidFill>
                <a:latin typeface="Calibri"/>
              </a:rPr>
              <a:t>Inhouse Projects &amp; Professional Memberships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B6A83"/>
                </a:solidFill>
                <a:latin typeface="Calibri"/>
              </a:rPr>
              <a:t>Two independent components  •  evaluated by separate panels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24128"/>
            <a:ext cx="1554480" cy="457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46920" y="219456"/>
            <a:ext cx="2103120" cy="475488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8 + 2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247120" cy="17780"/>
          </a:xfrm>
          <a:prstGeom prst="rect">
            <a:avLst/>
          </a:prstGeom>
          <a:solidFill>
            <a:srgbClr val="D3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A83"/>
                </a:solidFill>
                <a:latin typeface="Calibri"/>
              </a:rPr>
              <a:t>SRM IST  •  School of Computing  •  Placement Ranking Metrics (AO1 Batch)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5577840" cy="470916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5577840" cy="457200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1426464"/>
            <a:ext cx="4389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Inhouse Projects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426464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2A900"/>
                </a:solidFill>
                <a:latin typeface="Calibri"/>
              </a:rPr>
              <a:t>8 Marks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" y="1920240"/>
            <a:ext cx="5175504" cy="347472"/>
          </a:xfrm>
          <a:prstGeom prst="roundRect">
            <a:avLst>
              <a:gd name="adj" fmla="val 8000"/>
            </a:avLst>
          </a:prstGeom>
          <a:solidFill>
            <a:srgbClr val="FDF3DB"/>
          </a:solidFill>
          <a:ln w="127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>
                <a:solidFill>
                  <a:srgbClr val="091E42"/>
                </a:solidFill>
                <a:latin typeface="Calibri"/>
              </a:rPr>
              <a:t>Evaluation:  Vishnu, Thirisha &amp; Abhishek Mahadani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04088" y="2395728"/>
          <a:ext cx="5157216" cy="1298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/>
                <a:gridCol w="1316736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Project Type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Marks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202B3D"/>
                          </a:solidFill>
                          <a:latin typeface="Calibri"/>
                        </a:rPr>
                        <a:t>Inhouse projects — UROP /</a:t>
                      </a:r>
                    </a:p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202B3D"/>
                          </a:solidFill>
                          <a:latin typeface="Calibri"/>
                        </a:rPr>
                        <a:t>SERI / Special Lab projects</a:t>
                      </a:r>
                    </a:p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202B3D"/>
                          </a:solidFill>
                          <a:latin typeface="Calibri"/>
                        </a:rPr>
                        <a:t>(each project)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0F2B5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04088" y="3977639"/>
            <a:ext cx="52120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02B3D"/>
                </a:solidFill>
                <a:latin typeface="Calibri"/>
              </a:rPr>
              <a:t>•  Must have worked under any faculty of SRMIST or faculty of any other university</a:t>
            </a:r>
          </a:p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02B3D"/>
                </a:solidFill>
                <a:latin typeface="Calibri"/>
              </a:rPr>
              <a:t>•  Maximum of 2 projects considered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02B3D"/>
                </a:solidFill>
                <a:latin typeface="Calibri"/>
              </a:rPr>
              <a:t>     (2 projects × 4 marks = 8 marks)</a:t>
            </a:r>
          </a:p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02B3D"/>
                </a:solidFill>
                <a:latin typeface="Calibri"/>
              </a:rPr>
              <a:t>•  Faculty confirmation / project letter required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371600"/>
            <a:ext cx="5486400" cy="470916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1371600"/>
            <a:ext cx="5486400" cy="457200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1426464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Membership of Professional Bodies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19" y="1426464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2A900"/>
                </a:solidFill>
                <a:latin typeface="Calibri"/>
              </a:rPr>
              <a:t>2 Marks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64808" y="1920240"/>
            <a:ext cx="5175504" cy="347472"/>
          </a:xfrm>
          <a:prstGeom prst="roundRect">
            <a:avLst>
              <a:gd name="adj" fmla="val 8000"/>
            </a:avLst>
          </a:prstGeom>
          <a:solidFill>
            <a:srgbClr val="FDF3DB"/>
          </a:solidFill>
          <a:ln w="127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>
                <a:solidFill>
                  <a:srgbClr val="091E42"/>
                </a:solidFill>
                <a:latin typeface="Calibri"/>
              </a:rPr>
              <a:t>Evaluation:  Diksha &amp; Adutiya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2468880"/>
            <a:ext cx="4572000" cy="1097280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Valid membership  →  2 Marks</a:t>
            </a:r>
          </a:p>
          <a:p>
            <a:pPr algn="ctr"/>
            <a:r>
              <a:rPr sz="1250">
                <a:solidFill>
                  <a:srgbClr val="C9D4E8"/>
                </a:solidFill>
                <a:latin typeface="Calibri"/>
              </a:rPr>
              <a:t>No membership  →  0 Marks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794760"/>
            <a:ext cx="50292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02B3D"/>
                </a:solidFill>
                <a:latin typeface="Calibri"/>
              </a:rPr>
              <a:t>•  At least one membership in IEEE, IET, ACM, CSI, ISTE or any recognized professional body</a:t>
            </a:r>
          </a:p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02B3D"/>
                </a:solidFill>
                <a:latin typeface="Calibri"/>
              </a:rPr>
              <a:t>•  A valid membership certificate is a must</a:t>
            </a:r>
          </a:p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02B3D"/>
                </a:solidFill>
                <a:latin typeface="Calibri"/>
              </a:rPr>
              <a:t>•  Membership must be active at the time of evaluation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869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2B5B"/>
                </a:solidFill>
                <a:latin typeface="Calibri"/>
              </a:rPr>
              <a:t>SHL / Talent Discovery Assessment / NCET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B6A83"/>
                </a:solidFill>
                <a:latin typeface="Calibri"/>
              </a:rPr>
              <a:t>National Competence &amp; Employability Test  •  score-band based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24128"/>
            <a:ext cx="1554480" cy="457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46920" y="219456"/>
            <a:ext cx="2103120" cy="475488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10 MARKS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786384"/>
            <a:ext cx="4937760" cy="365760"/>
          </a:xfrm>
          <a:prstGeom prst="roundRect">
            <a:avLst>
              <a:gd name="adj" fmla="val 8000"/>
            </a:avLst>
          </a:prstGeom>
          <a:solidFill>
            <a:srgbClr val="FDF3DB"/>
          </a:solidFill>
          <a:ln w="127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0" bIns="0"/>
          <a:lstStyle/>
          <a:p>
            <a:pPr algn="ctr"/>
            <a:r>
              <a:rPr sz="1150" b="1">
                <a:solidFill>
                  <a:srgbClr val="091E42"/>
                </a:solidFill>
                <a:latin typeface="Calibri"/>
              </a:rPr>
              <a:t>Evaluation:  Krish, Sharon &amp; Shagun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46520"/>
            <a:ext cx="11247120" cy="17780"/>
          </a:xfrm>
          <a:prstGeom prst="rect">
            <a:avLst/>
          </a:prstGeom>
          <a:solidFill>
            <a:srgbClr val="D3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A83"/>
                </a:solidFill>
                <a:latin typeface="Calibri"/>
              </a:rPr>
              <a:t>SRM IST  •  School of Computing  •  Placement Ranking Metrics (AO1 Batch)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1371600"/>
          <a:ext cx="6035040" cy="47777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2103120"/>
              </a:tblGrid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Assessment Score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Marks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90 – 100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80 – 89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70 – 79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65 – 69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60 – 64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55 – 59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50 – 54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40 – 49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30 – 39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25 – 29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Less than 25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086600" y="1371600"/>
            <a:ext cx="4663440" cy="470916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86600" y="1371600"/>
            <a:ext cx="4663440" cy="457200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2904" y="1426464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Assessment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011680"/>
            <a:ext cx="42519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02B3D"/>
                </a:solidFill>
                <a:latin typeface="Calibri"/>
              </a:rPr>
              <a:t>•  Applies to SHL Assessment, Talent Discovery Assessment, and NCET (National Competence &amp; Employability Test)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02B3D"/>
                </a:solidFill>
                <a:latin typeface="Calibri"/>
              </a:rPr>
              <a:t>•  Marks are awarded strictly as per the score band achieved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02B3D"/>
                </a:solidFill>
                <a:latin typeface="Calibri"/>
              </a:rPr>
              <a:t>•  Official score reports must be submitted to the evaluation team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02B3D"/>
                </a:solidFill>
                <a:latin typeface="Calibri"/>
              </a:rPr>
              <a:t>•  Best / latest score as notified by the placement cell will be taken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869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F2B5B"/>
                </a:solidFill>
                <a:latin typeface="Calibri"/>
              </a:rPr>
              <a:t>Evaluation Responsibility Matrix — AO1 Batch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B6A83"/>
                </a:solidFill>
                <a:latin typeface="Calibri"/>
              </a:rPr>
              <a:t>Metric-wise owners for data collection, verification and mark entry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24128"/>
            <a:ext cx="1554480" cy="457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46920" y="219456"/>
            <a:ext cx="2103120" cy="475488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100 MARKS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247120" cy="17780"/>
          </a:xfrm>
          <a:prstGeom prst="rect">
            <a:avLst/>
          </a:prstGeom>
          <a:solidFill>
            <a:srgbClr val="D3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A83"/>
                </a:solidFill>
                <a:latin typeface="Calibri"/>
              </a:rPr>
              <a:t>SRM IST  •  School of Computing  •  Placement Ranking Metrics (AO1 Batch)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325880"/>
          <a:ext cx="11247120" cy="4890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"/>
                <a:gridCol w="4069080"/>
                <a:gridCol w="960120"/>
                <a:gridCol w="566928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Marks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Evaluation Owner(s)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</a:tr>
              <a:tr h="32186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10th Percentage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0F2B5B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Sravani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32186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12th Percentage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0F2B5B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Sravani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32186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CGPA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0F2B5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Sravani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32186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GitHub Profile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0F2B5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Harshitha &amp; Harshini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32186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Coding Practice Platform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0F2B5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Sarvesh   (Verification: Shubhang Dharshan)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32186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Internship Experience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0F2B5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Aarya Jain &amp; Arya G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32186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Skillset &amp; Global Certifications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0F2B5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Darshil Joshi &amp; Rachit Jha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32186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Projects Done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0F2B5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Ahmad Thalha, Abishai &amp; Kunsh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32186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Full Stack Developer Experience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0F2B5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Sai, Eishit &amp; Manushree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32186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Coding Competitions &amp; Hackathons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0F2B5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Vaishnavi, Darshil &amp; Sharmistha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32186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Inhouse Projects Done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0F2B5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Vishnu, Thirisha &amp; Abhishek Mahadani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32186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Membership of Professional Bodies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0F2B5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Diksha &amp; Adutiya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32186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SHL Assessment / Talent Discovery / NCET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0F2B5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0">
                          <a:solidFill>
                            <a:srgbClr val="202B3D"/>
                          </a:solidFill>
                          <a:latin typeface="Calibri"/>
                        </a:rPr>
                        <a:t>Krish, Sharon &amp; Shagun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32186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</a:p>
                  </a:txBody>
                  <a:tcPr anchor="ctr" marL="82296" marR="82296" marT="13716" marB="13716">
                    <a:solidFill>
                      <a:srgbClr val="FDF3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0F2B5B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82296" marR="82296" marT="13716" marB="13716">
                    <a:solidFill>
                      <a:srgbClr val="FDF3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50" b="1">
                          <a:solidFill>
                            <a:srgbClr val="0F2B5B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 marL="82296" marR="82296" marT="13716" marB="13716">
                    <a:solidFill>
                      <a:srgbClr val="FDF3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</a:p>
                  </a:txBody>
                  <a:tcPr anchor="ctr" marL="82296" marR="82296" marT="13716" marB="13716">
                    <a:solidFill>
                      <a:srgbClr val="FDF3D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869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2B5B"/>
                </a:solidFill>
                <a:latin typeface="Calibri"/>
              </a:rPr>
              <a:t>Placement Coordination — AO1 Batch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B6A83"/>
                </a:solidFill>
                <a:latin typeface="Calibri"/>
              </a:rPr>
              <a:t>Consolidation of all 13 metric components and final placement ranking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24128"/>
            <a:ext cx="1554480" cy="457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46920" y="219456"/>
            <a:ext cx="2103120" cy="475488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247120" cy="17780"/>
          </a:xfrm>
          <a:prstGeom prst="rect">
            <a:avLst/>
          </a:prstGeom>
          <a:solidFill>
            <a:srgbClr val="D3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A83"/>
                </a:solidFill>
                <a:latin typeface="Calibri"/>
              </a:rPr>
              <a:t>SRM IST  •  School of Computing  •  Placement Ranking Metrics (AO1 Batch)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554480"/>
            <a:ext cx="3383280" cy="22860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554480"/>
            <a:ext cx="3383280" cy="82296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03120" y="1874519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21031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907792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F2B5B"/>
                </a:solidFill>
                <a:latin typeface="Calibri"/>
              </a:rPr>
              <a:t>SARVESH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31012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A83"/>
                </a:solidFill>
                <a:latin typeface="Calibri"/>
              </a:rPr>
              <a:t>Main Placement Coordinator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1554480"/>
            <a:ext cx="3383280" cy="22860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1554480"/>
            <a:ext cx="3383280" cy="82296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06440" y="1874519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6440" y="21031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907792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F2B5B"/>
                </a:solidFill>
                <a:latin typeface="Calibri"/>
              </a:rPr>
              <a:t>KRISH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31012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A83"/>
                </a:solidFill>
                <a:latin typeface="Calibri"/>
              </a:rPr>
              <a:t>Main Placement Coordinator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1554480"/>
            <a:ext cx="3383280" cy="22860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75320" y="1554480"/>
            <a:ext cx="3383280" cy="82296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509760" y="1874519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21031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907792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F2B5B"/>
                </a:solidFill>
                <a:latin typeface="Calibri"/>
              </a:rPr>
              <a:t>SHARON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31012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A83"/>
                </a:solidFill>
                <a:latin typeface="Calibri"/>
              </a:rPr>
              <a:t>Main Placement Coordinator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4297680"/>
            <a:ext cx="10469880" cy="1600200"/>
          </a:xfrm>
          <a:prstGeom prst="roundRect">
            <a:avLst>
              <a:gd name="adj" fmla="val 8000"/>
            </a:avLst>
          </a:prstGeom>
          <a:solidFill>
            <a:srgbClr val="FDF3DB"/>
          </a:solidFill>
          <a:ln w="1524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4480560"/>
            <a:ext cx="987552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091E42"/>
                </a:solidFill>
                <a:latin typeface="Calibri"/>
              </a:rPr>
              <a:t>Role of the coordinators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091E42"/>
                </a:solidFill>
                <a:latin typeface="Calibri"/>
              </a:rPr>
              <a:t>•  Collect verified marks from all metric owners and maintain the master sheet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091E42"/>
                </a:solidFill>
                <a:latin typeface="Calibri"/>
              </a:rPr>
              <a:t>•  Resolve discrepancies (e.g., coding platform scores verified by Shubhang Dharshan)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091E42"/>
                </a:solidFill>
                <a:latin typeface="Calibri"/>
              </a:rPr>
              <a:t>•  Publish the consolidated placement ranking out of 100 marks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869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2B5B"/>
                </a:solidFill>
                <a:latin typeface="Calibri"/>
              </a:rPr>
              <a:t>Placement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B6A83"/>
                </a:solidFill>
                <a:latin typeface="Calibri"/>
              </a:rPr>
              <a:t>Standard recruitment flow followed for every visiting company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24128"/>
            <a:ext cx="1554480" cy="457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46920" y="219456"/>
            <a:ext cx="2103120" cy="475488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 STEPS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247120" cy="17780"/>
          </a:xfrm>
          <a:prstGeom prst="rect">
            <a:avLst/>
          </a:prstGeom>
          <a:solidFill>
            <a:srgbClr val="D3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A83"/>
                </a:solidFill>
                <a:latin typeface="Calibri"/>
              </a:rPr>
              <a:t>SRM IST  •  School of Computing  •  Placement Ranking Metrics (AO1 Batch)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371600"/>
            <a:ext cx="5120640" cy="512064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Eligible &amp; Willing Students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41732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F2B5B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5740" y="1883664"/>
            <a:ext cx="32918" cy="219456"/>
          </a:xfrm>
          <a:prstGeom prst="rect">
            <a:avLst/>
          </a:prstGeom>
          <a:solidFill>
            <a:srgbClr val="5B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11880" y="2103120"/>
            <a:ext cx="5120640" cy="512064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Pre-Placement Talk (PPT)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148839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F2B5B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5740" y="2615184"/>
            <a:ext cx="32918" cy="219456"/>
          </a:xfrm>
          <a:prstGeom prst="rect">
            <a:avLst/>
          </a:prstGeom>
          <a:solidFill>
            <a:srgbClr val="5B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11880" y="2834640"/>
            <a:ext cx="5120640" cy="512064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Aptitude Test / Technical 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28803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F2B5B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5740" y="3346704"/>
            <a:ext cx="32918" cy="219456"/>
          </a:xfrm>
          <a:prstGeom prst="rect">
            <a:avLst/>
          </a:prstGeom>
          <a:solidFill>
            <a:srgbClr val="5B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11880" y="3566160"/>
            <a:ext cx="5120640" cy="512064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Group Discussion (GD)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4640" y="361188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F2B5B"/>
                </a:solidFill>
                <a:latin typeface="Calibri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55740" y="4078224"/>
            <a:ext cx="32918" cy="219456"/>
          </a:xfrm>
          <a:prstGeom prst="rect">
            <a:avLst/>
          </a:prstGeom>
          <a:solidFill>
            <a:srgbClr val="5B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611880" y="4297680"/>
            <a:ext cx="5120640" cy="512064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Personal Interview (PI)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34640" y="434340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F2B5B"/>
                </a:solidFill>
                <a:latin typeface="Calibri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5740" y="4809744"/>
            <a:ext cx="32918" cy="219456"/>
          </a:xfrm>
          <a:prstGeom prst="rect">
            <a:avLst/>
          </a:prstGeom>
          <a:solidFill>
            <a:srgbClr val="5B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611880" y="5029200"/>
            <a:ext cx="5120640" cy="512064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Technical &amp; HR Interview (TI)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34640" y="507492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F2B5B"/>
                </a:solidFill>
                <a:latin typeface="Calibri"/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55740" y="5541264"/>
            <a:ext cx="32918" cy="219456"/>
          </a:xfrm>
          <a:prstGeom prst="rect">
            <a:avLst/>
          </a:prstGeom>
          <a:solidFill>
            <a:srgbClr val="5B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11880" y="5760720"/>
            <a:ext cx="5120640" cy="512064"/>
          </a:xfrm>
          <a:prstGeom prst="roundRect">
            <a:avLst>
              <a:gd name="adj" fmla="val 8000"/>
            </a:avLst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91E42"/>
                </a:solidFill>
                <a:latin typeface="Calibri"/>
              </a:rPr>
              <a:t>Final Selection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34640" y="580644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F2B5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869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2B5B"/>
                </a:solidFill>
                <a:latin typeface="Calibri"/>
              </a:rPr>
              <a:t>Placement Norms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B6A83"/>
                </a:solidFill>
                <a:latin typeface="Calibri"/>
              </a:rPr>
              <a:t>Eligibility criteria and important conditions for placement registration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24128"/>
            <a:ext cx="1554480" cy="457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46920" y="219456"/>
            <a:ext cx="2103120" cy="475488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POLICY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247120" cy="17780"/>
          </a:xfrm>
          <a:prstGeom prst="rect">
            <a:avLst/>
          </a:prstGeom>
          <a:solidFill>
            <a:srgbClr val="D3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A83"/>
                </a:solidFill>
                <a:latin typeface="Calibri"/>
              </a:rPr>
              <a:t>SRM IST  •  School of Computing  •  Placement Ranking Metrics (AO1 Batch)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63040"/>
            <a:ext cx="5577840" cy="393192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463040"/>
            <a:ext cx="5577840" cy="457200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1517904"/>
            <a:ext cx="4389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Eligibility Criteria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194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084831"/>
            <a:ext cx="4297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202B3D"/>
                </a:solidFill>
                <a:latin typeface="Calibri"/>
              </a:rPr>
              <a:t>60% OR 6 CGPA throughout</a:t>
            </a:r>
          </a:p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202B3D"/>
                </a:solidFill>
                <a:latin typeface="Calibri"/>
              </a:rPr>
              <a:t>(10th, 12th / Dip, UG / PG)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52043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410711"/>
            <a:ext cx="4297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202B3D"/>
                </a:solidFill>
                <a:latin typeface="Calibri"/>
              </a:rPr>
              <a:t>No Standing Arrears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463040"/>
            <a:ext cx="5486400" cy="393192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1463040"/>
            <a:ext cx="5486400" cy="457200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1517904"/>
            <a:ext cx="4297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Important Note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2194560"/>
            <a:ext cx="4937760" cy="2651760"/>
          </a:xfrm>
          <a:prstGeom prst="roundRect">
            <a:avLst>
              <a:gd name="adj" fmla="val 8000"/>
            </a:avLst>
          </a:prstGeom>
          <a:solidFill>
            <a:srgbClr val="FDF3DB"/>
          </a:solidFill>
          <a:ln w="1524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0" y="251460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091E42"/>
                </a:solidFill>
                <a:latin typeface="Calibri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423160"/>
            <a:ext cx="3703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91E42"/>
                </a:solidFill>
                <a:latin typeface="Calibri"/>
              </a:rPr>
              <a:t>Students opting for placements and getting offer(s) will NOT be given LOR (Letter of Recommendation) for higher studies.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869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2B5B"/>
                </a:solidFill>
                <a:latin typeface="Calibri"/>
              </a:rPr>
              <a:t>Placement Fees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B6A83"/>
                </a:solidFill>
                <a:latin typeface="Calibri"/>
              </a:rPr>
              <a:t>Placement registration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24128"/>
            <a:ext cx="1554480" cy="457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46920" y="219456"/>
            <a:ext cx="2103120" cy="475488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REGISTRATION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247120" cy="17780"/>
          </a:xfrm>
          <a:prstGeom prst="rect">
            <a:avLst/>
          </a:prstGeom>
          <a:solidFill>
            <a:srgbClr val="D3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A83"/>
                </a:solidFill>
                <a:latin typeface="Calibri"/>
              </a:rPr>
              <a:t>SRM IST  •  School of Computing  •  Placement Ranking Metrics (AO1 Batch)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737360"/>
            <a:ext cx="5486400" cy="329184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55848" y="1737360"/>
            <a:ext cx="5486400" cy="502920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1801368"/>
            <a:ext cx="5120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Registration Fee for Placement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2514600"/>
            <a:ext cx="54864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0F2B5B"/>
                </a:solidFill>
                <a:latin typeface="Calibri"/>
              </a:rPr>
              <a:t>₹ 9,500/-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36008" y="3794760"/>
            <a:ext cx="2926080" cy="548640"/>
          </a:xfrm>
          <a:prstGeom prst="roundRect">
            <a:avLst>
              <a:gd name="adj" fmla="val 8000"/>
            </a:avLst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91E42"/>
                </a:solidFill>
                <a:latin typeface="Calibri"/>
              </a:rPr>
              <a:t>Non-Refundable Fee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5257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5B6A83"/>
                </a:solidFill>
                <a:latin typeface="Calibri"/>
              </a:rPr>
              <a:t>The registration fee once paid will not be refunded under any circumstances.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869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F2B5B"/>
                </a:solidFill>
                <a:latin typeface="Calibri"/>
              </a:rPr>
              <a:t>Placement Metrics — Role of Faculty Advisor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B6A83"/>
                </a:solidFill>
                <a:latin typeface="Calibri"/>
              </a:rPr>
              <a:t>Data maintained by the Faculty Advisor for placement ranking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24128"/>
            <a:ext cx="1554480" cy="457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46920" y="219456"/>
            <a:ext cx="2103120" cy="475488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FACULTY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247120" cy="17780"/>
          </a:xfrm>
          <a:prstGeom prst="rect">
            <a:avLst/>
          </a:prstGeom>
          <a:solidFill>
            <a:srgbClr val="D3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A83"/>
                </a:solidFill>
                <a:latin typeface="Calibri"/>
              </a:rPr>
              <a:t>SRM IST  •  School of Computing  •  Placement Ranking Metrics (AO1 Batch)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54480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554480"/>
            <a:ext cx="5440680" cy="82296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130552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874519"/>
            <a:ext cx="40690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0F2B5B"/>
                </a:solidFill>
                <a:latin typeface="Calibri"/>
              </a:rPr>
              <a:t>Student Basic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54480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554480"/>
            <a:ext cx="5440680" cy="82296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79" y="2130552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1874519"/>
            <a:ext cx="40690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0F2B5B"/>
                </a:solidFill>
                <a:latin typeface="Calibri"/>
              </a:rPr>
              <a:t>SOC Ranking Metrics</a:t>
            </a:r>
          </a:p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0F2B5B"/>
                </a:solidFill>
                <a:latin typeface="Calibri"/>
              </a:rPr>
              <a:t>Format A and 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03320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703320"/>
            <a:ext cx="5440680" cy="82296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4279392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023359"/>
            <a:ext cx="40690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0F2B5B"/>
                </a:solidFill>
                <a:latin typeface="Calibri"/>
              </a:rPr>
              <a:t>STEP / SHL Assessment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703320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3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703320"/>
            <a:ext cx="5440680" cy="82296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79" y="4279392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4023359"/>
            <a:ext cx="40690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0F2B5B"/>
                </a:solidFill>
                <a:latin typeface="Calibri"/>
              </a:rPr>
              <a:t>All Students — for companies</a:t>
            </a:r>
          </a:p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0F2B5B"/>
                </a:solidFill>
                <a:latin typeface="Calibri"/>
              </a:rPr>
              <a:t>less than 5 lakhs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869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2B5B"/>
                </a:solidFill>
                <a:latin typeface="Calibri"/>
              </a:rPr>
              <a:t>Classification of Companies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B6A83"/>
                </a:solidFill>
                <a:latin typeface="Calibri"/>
              </a:rPr>
              <a:t>Company categories based on the nature of offer and CTC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24128"/>
            <a:ext cx="1554480" cy="457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46920" y="219456"/>
            <a:ext cx="2103120" cy="475488"/>
          </a:xfrm>
          <a:prstGeom prst="roundRect">
            <a:avLst>
              <a:gd name="adj" fmla="val 8000"/>
            </a:avLst>
          </a:prstGeom>
          <a:solidFill>
            <a:srgbClr val="0F2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8 CATEGORIES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247120" cy="17780"/>
          </a:xfrm>
          <a:prstGeom prst="rect">
            <a:avLst/>
          </a:prstGeom>
          <a:solidFill>
            <a:srgbClr val="D3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A83"/>
                </a:solidFill>
                <a:latin typeface="Calibri"/>
              </a:rPr>
              <a:t>SRM IST  •  School of Computing  •  Placement Ranking Metrics (AO1 Batch)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1371600"/>
          <a:ext cx="11247120" cy="4617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8138160"/>
              </a:tblGrid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82296" marR="82296" marT="13716" marB="13716">
                    <a:solidFill>
                      <a:srgbClr val="0F2B5B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Internship Only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Companies offering only internship with NO job assurance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Day 1 / Day 2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Companies offering IT Services jobs and doing mass recruitment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I.T. / Non-I.T Offers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Companies offering IT / Non-IT jobs with CTC between 3.0 LPA and 4.99 LPA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Core Offers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Companies offering jobs for core engineering branches (excluding CSE, IT &amp; Software)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Dream Offers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Companies offering CTC between 5 LPA and 9.99 LPA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Super Dream Offers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Companies offering CTC between 10 LPA and 19.99 LPA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Marquee Offers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Companies offering CTC ≥ 20 LPA</a:t>
                      </a:r>
                    </a:p>
                  </a:txBody>
                  <a:tcPr anchor="ctr" marL="82296" marR="82296" marT="13716" marB="13716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1">
                          <a:solidFill>
                            <a:srgbClr val="0F2B5B"/>
                          </a:solidFill>
                          <a:latin typeface="Calibri"/>
                        </a:rPr>
                        <a:t>International Offers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50" b="0">
                          <a:solidFill>
                            <a:srgbClr val="202B3D"/>
                          </a:solidFill>
                          <a:latin typeface="Calibri"/>
                        </a:rPr>
                        <a:t>Companies offering overseas placement</a:t>
                      </a:r>
                    </a:p>
                  </a:txBody>
                  <a:tcPr anchor="ctr" marL="82296" marR="82296" marT="13716" marB="13716"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45391" y="0"/>
            <a:ext cx="146304" cy="68580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58968" y="2331720"/>
            <a:ext cx="1280160" cy="4114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103601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F2A900"/>
                </a:solidFill>
                <a:latin typeface="Calibri"/>
              </a:rPr>
              <a:t>Metrics for Evaluation of Students for Placement Ranking  —  Total 100 Marks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C9D4E8"/>
                </a:solidFill>
                <a:latin typeface="Calibri"/>
              </a:rPr>
              <a:t>School of Computing  •  Faculty of Engineering and Technology</a:t>
            </a:r>
          </a:p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C9D4E8"/>
                </a:solidFill>
                <a:latin typeface="Calibri"/>
              </a:rPr>
              <a:t>SRM Institute of Science and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7784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FB0CE"/>
                </a:solidFill>
                <a:latin typeface="Calibri"/>
              </a:rPr>
              <a:t>2022 – 2026  &amp;  2023 – 2027 Batches  •  AO1 Batch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